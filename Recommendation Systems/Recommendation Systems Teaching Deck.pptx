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25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371600"/>
            <a:ext cx="4572000" cy="4572000"/>
          </a:xfrm>
          <a:prstGeom prst="ellipse">
            <a:avLst/>
          </a:prstGeom>
          <a:solidFill>
            <a:srgbClr val="8B4513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4114800"/>
            <a:ext cx="2926080" cy="2926080"/>
          </a:xfrm>
          <a:prstGeom prst="ellipse">
            <a:avLst/>
          </a:prstGeom>
          <a:solidFill>
            <a:srgbClr val="C9A17A">
              <a:alpha val="30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228600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C9A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 SYSTEMS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743200"/>
            <a:ext cx="10058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Helping Users Find What They Didn't Know to Search For</a:t>
            </a:r>
            <a:endParaRPr lang="en-US" sz="38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97764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F2EE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Collaborative Filtering, Content-Based Filtering, and Hybrid Systems</a:t>
            </a:r>
            <a:endParaRPr lang="en-US"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8B451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Session Plan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554480"/>
            <a:ext cx="457200" cy="457200"/>
          </a:xfrm>
          <a:prstGeom prst="ellipse">
            <a:avLst/>
          </a:prstGeom>
          <a:solidFill>
            <a:srgbClr val="8B4513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325880" y="1536192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Recommendation Systems Matter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9144000" y="155448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15-20 min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2267712"/>
            <a:ext cx="457200" cy="457200"/>
          </a:xfrm>
          <a:prstGeom prst="ellipse">
            <a:avLst/>
          </a:prstGeom>
          <a:solidFill>
            <a:srgbClr val="1F4E79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22677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325880" y="2249424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Collaborative Filtering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9144000" y="2267712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35-40 min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" y="2980944"/>
            <a:ext cx="457200" cy="457200"/>
          </a:xfrm>
          <a:prstGeom prst="ellipse">
            <a:avLst/>
          </a:prstGeom>
          <a:solidFill>
            <a:srgbClr val="8B4513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0080" y="29809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325880" y="2962656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Content-Based Filtering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9144000" y="2980944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35-40 min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0080" y="3694176"/>
            <a:ext cx="457200" cy="457200"/>
          </a:xfrm>
          <a:prstGeom prst="ellipse">
            <a:avLst/>
          </a:prstGeom>
          <a:solidFill>
            <a:srgbClr val="1F4E79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40080" y="36941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325880" y="3675888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Comparing the Two Approaches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9144000" y="3694176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15-20 min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40080" y="4407408"/>
            <a:ext cx="457200" cy="457200"/>
          </a:xfrm>
          <a:prstGeom prst="ellipse">
            <a:avLst/>
          </a:prstGeom>
          <a:solidFill>
            <a:srgbClr val="8B4513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40080" y="44074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1325880" y="438912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Recommendation Systems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9144000" y="4407408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20-25 min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40080" y="5120640"/>
            <a:ext cx="457200" cy="457200"/>
          </a:xfrm>
          <a:prstGeom prst="ellipse">
            <a:avLst/>
          </a:prstGeom>
          <a:solidFill>
            <a:srgbClr val="1F4E79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40080" y="5120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1325880" y="5102352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Project: Build a Content-Based Recommender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9144000" y="512064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60-90 min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548640" y="585216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Total: roughly 3-4 hours, including the hands-on project.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548640" y="635508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 Systems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11365992" y="63550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8B451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Discussion Questions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828800"/>
            <a:ext cx="11091672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400"/>
              </a:spcAft>
              <a:buSzPct val="100000"/>
              <a:buChar char="●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of a product you were recommended recently (Netflix, Amazon, Spotify). Was it based on what you liked, or what people similar to you liked?</a:t>
            </a:r>
            <a:endParaRPr lang="en-US" sz="1800" dirty="0"/>
          </a:p>
          <a:p>
            <a:pPr marL="228600" indent="-228600">
              <a:spcAft>
                <a:spcPts val="1400"/>
              </a:spcAft>
              <a:buSzPct val="100000"/>
              <a:buChar char="●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happens when a brand-new user, with no history at all, needs a recommendation? Which approach handles that better?</a:t>
            </a:r>
            <a:endParaRPr lang="en-US" sz="1800" dirty="0"/>
          </a:p>
          <a:p>
            <a:pPr marL="228600" indent="-228600">
              <a:spcAft>
                <a:spcPts val="1400"/>
              </a:spcAft>
              <a:buSzPct val="100000"/>
              <a:buChar char="●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happens when a brand-new item, never rated by anyone, needs to be recommended? Which approach handles that better?</a:t>
            </a:r>
            <a:endParaRPr lang="en-US" sz="1800" dirty="0"/>
          </a:p>
          <a:p>
            <a:pPr marL="228600" indent="-228600">
              <a:spcAft>
                <a:spcPts val="1400"/>
              </a:spcAft>
              <a:buSzPct val="100000"/>
              <a:buChar char="●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might a real system use more than one recommendation approach at once?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35508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 Systems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365992" y="63550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8B451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Recommendation Systems Matter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554480"/>
            <a:ext cx="1051560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400"/>
              </a:spcAft>
              <a:buSzPct val="100000"/>
              <a:buChar char="●"/>
            </a:pPr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catalogs are too large for anyone to browse: thousands of movies, millions of products, tens of millions of songs</a:t>
            </a:r>
            <a:endParaRPr lang="en-US" sz="1700" dirty="0"/>
          </a:p>
          <a:p>
            <a:pPr marL="228600" indent="-228600">
              <a:spcAft>
                <a:spcPts val="1400"/>
              </a:spcAft>
              <a:buSzPct val="100000"/>
              <a:buChar char="●"/>
            </a:pPr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recommendation system's job is to narrow that down to a short, personalized list, before the user has to search for anything</a:t>
            </a:r>
            <a:endParaRPr lang="en-US" sz="1700" dirty="0"/>
          </a:p>
          <a:p>
            <a:pPr marL="228600" indent="-228600">
              <a:spcAft>
                <a:spcPts val="1400"/>
              </a:spcAft>
              <a:buSzPct val="100000"/>
              <a:buChar char="●"/>
            </a:pPr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recommendations drive real business outcomes: more watch time, more purchases, more engagement</a:t>
            </a:r>
            <a:endParaRPr lang="en-US" sz="1700" dirty="0"/>
          </a:p>
          <a:p>
            <a:pPr marL="228600" indent="-228600">
              <a:spcAft>
                <a:spcPts val="1400"/>
              </a:spcAft>
              <a:buSzPct val="100000"/>
              <a:buChar char="●"/>
            </a:pPr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Netflix, Amazon, Spotify, YouTube all run on this same underlying idea, applied to different kinds of items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35508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 Systems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365992" y="63550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8B451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Collaborative Filtering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554480"/>
            <a:ext cx="1051560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400"/>
              </a:spcAft>
              <a:buSzPct val="100000"/>
              <a:buChar char="●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idea: recommend based on what other, similar users liked, not on the content of the item itself</a:t>
            </a:r>
            <a:endParaRPr lang="en-US" sz="1600" dirty="0"/>
          </a:p>
          <a:p>
            <a:pPr marL="228600" indent="-228600">
              <a:spcAft>
                <a:spcPts val="1400"/>
              </a:spcAft>
              <a:buSzPct val="100000"/>
              <a:buChar char="●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User-based: find users with similar past behavior to you, recommend what they liked that you haven't seen yet</a:t>
            </a:r>
            <a:endParaRPr lang="en-US" sz="1600" dirty="0"/>
          </a:p>
          <a:p>
            <a:pPr marL="228600" indent="-228600">
              <a:spcAft>
                <a:spcPts val="1400"/>
              </a:spcAft>
              <a:buSzPct val="100000"/>
              <a:buChar char="●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Item-based: find items that tend to be liked by the same users together, recommend items similar in that sense to what you already liked</a:t>
            </a:r>
            <a:endParaRPr lang="en-US" sz="1600" dirty="0"/>
          </a:p>
          <a:p>
            <a:pPr marL="228600" indent="-228600">
              <a:spcAft>
                <a:spcPts val="1400"/>
              </a:spcAft>
              <a:buSzPct val="100000"/>
              <a:buChar char="●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no understanding of what an item actually is, just a history of who liked what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4617720"/>
            <a:ext cx="10881360" cy="1463040"/>
          </a:xfrm>
          <a:prstGeom prst="roundRect">
            <a:avLst>
              <a:gd name="adj" fmla="val 7500"/>
            </a:avLst>
          </a:prstGeom>
          <a:solidFill>
            <a:srgbClr val="F2EE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4754880"/>
            <a:ext cx="10332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8B4513"/>
                </a:solidFill>
              </a:rPr>
              <a:t>The catch: </a:t>
            </a:r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</a:rPr>
              <a:t>collaborative filtering needs a lot of user history to work well. A brand-new user with no ratings yet, or a brand-new item nobody has rated yet, has nothing to be "similar" to. This is called the cold-start problem.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35508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 Systems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11365992" y="63550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8B451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Content-Based Filtering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554480"/>
            <a:ext cx="1051560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400"/>
              </a:spcAft>
              <a:buSzPct val="100000"/>
              <a:buChar char="●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idea: recommend based on the properties of the items themselves, and what this specific user has liked before</a:t>
            </a:r>
            <a:endParaRPr lang="en-US" sz="1600" dirty="0"/>
          </a:p>
          <a:p>
            <a:pPr marL="228600" indent="-228600">
              <a:spcAft>
                <a:spcPts val="1400"/>
              </a:spcAft>
              <a:buSzPct val="100000"/>
              <a:buChar char="●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every item with a set of features (genre, actors, keywords, price range, ingredients, whatever fits the domain)</a:t>
            </a:r>
            <a:endParaRPr lang="en-US" sz="1600" dirty="0"/>
          </a:p>
          <a:p>
            <a:pPr marL="228600" indent="-228600">
              <a:spcAft>
                <a:spcPts val="1400"/>
              </a:spcAft>
              <a:buSzPct val="100000"/>
              <a:buChar char="●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simple profile of what one user tends to like, from their own past choices</a:t>
            </a:r>
            <a:endParaRPr lang="en-US" sz="1600" dirty="0"/>
          </a:p>
          <a:p>
            <a:pPr marL="228600" indent="-228600">
              <a:spcAft>
                <a:spcPts val="1400"/>
              </a:spcAft>
              <a:buSzPct val="100000"/>
              <a:buChar char="●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 other items whose features are most similar to that user's profile, a purely one-user, one-item comparison, no other users involved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4617720"/>
            <a:ext cx="10881360" cy="1463040"/>
          </a:xfrm>
          <a:prstGeom prst="roundRect">
            <a:avLst>
              <a:gd name="adj" fmla="val 7500"/>
            </a:avLst>
          </a:prstGeom>
          <a:solidFill>
            <a:srgbClr val="F2EE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4754880"/>
            <a:ext cx="10332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8B4513"/>
                </a:solidFill>
              </a:rPr>
              <a:t>The catch: </a:t>
            </a:r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</a:rPr>
              <a:t>recommendations can get repetitive, since everything recommended looks similar to what the user already liked. It also depends entirely on having good, descriptive item features to work with.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35508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 Systems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11365992" y="63550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8B451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Comparing the Two Approaches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5120640" cy="402336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9050">
            <a:solidFill>
              <a:srgbClr val="8B451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68680" y="182880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8B451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Collaborative Filtering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2514600"/>
            <a:ext cx="448056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400"/>
              </a:spcAft>
              <a:buSzPct val="100000"/>
              <a:buChar char="●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Uses: other users' behavior</a:t>
            </a:r>
            <a:endParaRPr lang="en-US" sz="1500" dirty="0"/>
          </a:p>
          <a:p>
            <a:pPr marL="203200" indent="-203200">
              <a:spcAft>
                <a:spcPts val="1400"/>
              </a:spcAft>
              <a:buSzPct val="100000"/>
              <a:buChar char="●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Strength: can surface surprising items outside a user's usual taste</a:t>
            </a:r>
            <a:endParaRPr lang="en-US" sz="1500" dirty="0"/>
          </a:p>
          <a:p>
            <a:pPr marL="203200" indent="-203200">
              <a:spcAft>
                <a:spcPts val="1400"/>
              </a:spcAft>
              <a:buSzPct val="100000"/>
              <a:buChar char="●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Weakness: cold-start for new users and new items</a:t>
            </a:r>
            <a:endParaRPr lang="en-US" sz="1500" dirty="0"/>
          </a:p>
          <a:p>
            <a:pPr marL="203200" indent="-203200">
              <a:spcAft>
                <a:spcPts val="1400"/>
              </a:spcAft>
              <a:buSzPct val="100000"/>
              <a:buChar char="●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Needs: lots of user-item interaction history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126480" y="1554480"/>
            <a:ext cx="5120640" cy="402336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9050">
            <a:solidFill>
              <a:srgbClr val="1F4E7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46520" y="182880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4E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Content-Based Filtering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6446520" y="2514600"/>
            <a:ext cx="448056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400"/>
              </a:spcAft>
              <a:buSzPct val="100000"/>
              <a:buChar char="●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Uses: the item's own features</a:t>
            </a:r>
            <a:endParaRPr lang="en-US" sz="1500" dirty="0"/>
          </a:p>
          <a:p>
            <a:pPr marL="203200" indent="-203200">
              <a:spcAft>
                <a:spcPts val="1400"/>
              </a:spcAft>
              <a:buSzPct val="100000"/>
              <a:buChar char="●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Strength: works from day one for a new item, if it has features</a:t>
            </a:r>
            <a:endParaRPr lang="en-US" sz="1500" dirty="0"/>
          </a:p>
          <a:p>
            <a:pPr marL="203200" indent="-203200">
              <a:spcAft>
                <a:spcPts val="1400"/>
              </a:spcAft>
              <a:buSzPct val="100000"/>
              <a:buChar char="●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Weakness: recommendations can feel repetitive, less serendipity</a:t>
            </a:r>
            <a:endParaRPr lang="en-US" sz="1500" dirty="0"/>
          </a:p>
          <a:p>
            <a:pPr marL="203200" indent="-203200">
              <a:spcAft>
                <a:spcPts val="1400"/>
              </a:spcAft>
              <a:buSzPct val="100000"/>
              <a:buChar char="●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Needs: good, descriptive item features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635508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 Systems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11365992" y="63550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8B451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Hybrid Recommendation Systems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554480"/>
            <a:ext cx="1051560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400"/>
              </a:spcAft>
              <a:buSzPct val="100000"/>
              <a:buChar char="●"/>
            </a:pPr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systems rarely rely on just one approach, they combine collaborative and content-based methods to cover each other's weaknesses</a:t>
            </a:r>
            <a:endParaRPr lang="en-US" sz="1700" dirty="0"/>
          </a:p>
          <a:p>
            <a:pPr marL="228600" indent="-228600">
              <a:spcAft>
                <a:spcPts val="1400"/>
              </a:spcAft>
              <a:buSzPct val="100000"/>
              <a:buChar char="●"/>
            </a:pPr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item, no ratings yet? Fall back on content-based filtering using its features, until enough ratings exist for collaborative filtering to kick in</a:t>
            </a:r>
            <a:endParaRPr lang="en-US" sz="1700" dirty="0"/>
          </a:p>
          <a:p>
            <a:pPr marL="228600" indent="-228600">
              <a:spcAft>
                <a:spcPts val="1400"/>
              </a:spcAft>
              <a:buSzPct val="100000"/>
              <a:buChar char="●"/>
            </a:pPr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user, no history yet? Ask a few preference questions upfront (content-based), then switch toward collaborative filtering as their history builds up</a:t>
            </a:r>
            <a:endParaRPr lang="en-US" sz="1700" dirty="0"/>
          </a:p>
          <a:p>
            <a:pPr marL="228600" indent="-228600">
              <a:spcAft>
                <a:spcPts val="1400"/>
              </a:spcAft>
              <a:buSzPct val="100000"/>
              <a:buChar char="●"/>
            </a:pPr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Combining scores from both approaches (e.g. a weighted blend) is often more accurate than either approach alone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35508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 Systems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365992" y="63550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8B451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Project: Build a Content-Based Recommender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63040"/>
            <a:ext cx="10515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400"/>
              </a:spcAft>
              <a:buSzPct val="100000"/>
              <a:buChar char="●"/>
            </a:pPr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Content-based filtering is the approach used for the hands-on project, since it needs no other users' data, just one dataset of items and their features</a:t>
            </a:r>
            <a:endParaRPr lang="en-US" sz="1700" dirty="0"/>
          </a:p>
          <a:p>
            <a:pPr marL="228600" indent="-228600">
              <a:spcAft>
                <a:spcPts val="1400"/>
              </a:spcAft>
              <a:buSzPct val="100000"/>
              <a:buChar char="●"/>
            </a:pPr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general recipe, regardless of domain (movies, products, articles):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640080" y="3063240"/>
            <a:ext cx="457200" cy="457200"/>
          </a:xfrm>
          <a:prstGeom prst="ellipse">
            <a:avLst/>
          </a:prstGeom>
          <a:solidFill>
            <a:srgbClr val="8B4513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3063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3044952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every item with a set of features (text, genre, tags, whatever fits the data)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721608"/>
            <a:ext cx="457200" cy="457200"/>
          </a:xfrm>
          <a:prstGeom prst="ellipse">
            <a:avLst/>
          </a:prstGeom>
          <a:solidFill>
            <a:srgbClr val="1F4E79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7216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325880" y="370332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those features into numbers the computer can compare (e.g. word counts)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379976"/>
            <a:ext cx="457200" cy="457200"/>
          </a:xfrm>
          <a:prstGeom prst="ellipse">
            <a:avLst/>
          </a:prstGeom>
          <a:solidFill>
            <a:srgbClr val="8B451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3799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325880" y="4361688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how similar every pair of items is, using those numbers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0080" y="5038344"/>
            <a:ext cx="457200" cy="457200"/>
          </a:xfrm>
          <a:prstGeom prst="ellipse">
            <a:avLst/>
          </a:prstGeom>
          <a:solidFill>
            <a:srgbClr val="1F4E79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0080" y="50383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325880" y="5020056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 given item a user liked, recommend the most similar other items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635508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 Systems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11365992" y="63550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8B451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Summary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63040"/>
            <a:ext cx="1060704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400"/>
              </a:spcAft>
              <a:buSzPct val="100000"/>
              <a:buChar char="●"/>
            </a:pPr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Collaborative filtering recommends based on what similar users liked, no item features needed, but suffers from cold-start</a:t>
            </a:r>
            <a:endParaRPr lang="en-US" sz="1700" dirty="0"/>
          </a:p>
          <a:p>
            <a:pPr marL="228600" indent="-228600">
              <a:spcAft>
                <a:spcPts val="1400"/>
              </a:spcAft>
              <a:buSzPct val="100000"/>
              <a:buChar char="●"/>
            </a:pPr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Content-based filtering recommends based on item features and one user's own history, works from day one, but can feel repetitive</a:t>
            </a:r>
            <a:endParaRPr lang="en-US" sz="1700" dirty="0"/>
          </a:p>
          <a:p>
            <a:pPr marL="228600" indent="-228600">
              <a:spcAft>
                <a:spcPts val="1400"/>
              </a:spcAft>
              <a:buSzPct val="100000"/>
              <a:buChar char="●"/>
            </a:pPr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systems combine both, using each to cover the other's weak spot</a:t>
            </a:r>
            <a:endParaRPr lang="en-US" sz="1700" dirty="0"/>
          </a:p>
          <a:p>
            <a:pPr marL="228600" indent="-228600">
              <a:spcAft>
                <a:spcPts val="1400"/>
              </a:spcAft>
              <a:buSzPct val="100000"/>
              <a:buChar char="●"/>
            </a:pPr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upcoming project builds a content-based recommender: describe items, turn features into numbers, measure similarity, recommend the closest matches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35508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 Systems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365992" y="63550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4A25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645920"/>
            <a:ext cx="4572000" cy="4572000"/>
          </a:xfrm>
          <a:prstGeom prst="ellipse">
            <a:avLst/>
          </a:prstGeom>
          <a:solidFill>
            <a:srgbClr val="8B4513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4114800"/>
            <a:ext cx="3657600" cy="3657600"/>
          </a:xfrm>
          <a:prstGeom prst="ellipse">
            <a:avLst/>
          </a:prstGeom>
          <a:solidFill>
            <a:srgbClr val="C9A17A">
              <a:alpha val="30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274320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Questions &amp; Discussion</a:t>
            </a:r>
            <a:endParaRPr lang="en-US" sz="42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374904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F2EE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 Systems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2026-09-01T15:24:35Z</dcterms:created>
  <dcterms:modified xsi:type="dcterms:W3CDTF">2026-09-01T15:24:35Z</dcterms:modified>
</cp:coreProperties>
</file>