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25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8B4513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114800"/>
            <a:ext cx="2926080" cy="2926080"/>
          </a:xfrm>
          <a:prstGeom prst="ellipse">
            <a:avLst/>
          </a:prstGeom>
          <a:solidFill>
            <a:srgbClr val="C9A17A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286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EXPLAINABILITY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432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Did the Model Say That?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Default Prediction   -   Feature Importance, PDP, ICE, LIME, SHAP, and ALE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45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Plan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53619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Models &amp; Why Explainability Matters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8470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 min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4048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Importance: Built-In vs. Permutation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7157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min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2735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Dependence Plots (PDP)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5844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min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41422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Conditional Expectation (ICE)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4531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min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1554480"/>
            <a:ext cx="457200" cy="457200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153619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LIME: Explaining One Decision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18470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35-40 min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2423160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995160" y="24048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SHAP: A Second, Independent View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95160" y="27157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45-60 min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0" y="3291840"/>
            <a:ext cx="457200" cy="457200"/>
          </a:xfrm>
          <a:prstGeom prst="ellipse">
            <a:avLst/>
          </a:prstGeom>
          <a:solidFill>
            <a:srgbClr val="8B451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080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995160" y="32735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PDP Against ALE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995160" y="35844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 min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0" y="4160520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0080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995160" y="41422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&amp; Summary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995160" y="44531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min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roughly 3.5-4.5 hours for solid coverage with live code and discussion.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Explainability  |  Loan Default Case Study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45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Questions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110916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model a "black box," and why might a regulator require an explanation before it can be deployed?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difference between knowing which features matter (importance) and knowing how they move a prediction (PDP)?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should you trust a PDP curve, and when should you check it against ALE instead?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LIME and SHAP explain the same prediction differently, which do you trust, and why does it matter that they agree here?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Explainability  |  Loan Default Case Study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45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Black-Box Models &amp; Why Explainability Matters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66751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"black box" model (Gradient Boosting, Random Forest, neural nets) predicts accurately, but the path from input to output isn't directly readable, unlike a single decision tree or a linear regression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regulations in most jurisdictions require that a rejected applicant be told why, "the model said so" is not a legally acceptable answer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techniques recover why, without giving up the accuracy of the underlying black-box model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680960" y="1737360"/>
            <a:ext cx="3931920" cy="2377440"/>
          </a:xfrm>
          <a:prstGeom prst="roundRect">
            <a:avLst>
              <a:gd name="adj" fmla="val 4615"/>
            </a:avLst>
          </a:prstGeom>
          <a:solidFill>
            <a:srgbClr val="F2EE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955280" y="196596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B4513"/>
                </a:solidFill>
              </a:rPr>
              <a:t>The Model Being Explained
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Gradient Boosting Classifier
</a:t>
            </a:r>
            <a:endParaRPr lang="en-US" sz="15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0.911 AUC on held-out data
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Same model verified in the Feature Engineering and PyCaret case studies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Explainability  |  Loan Default Case Study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45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Importance: Two Independent Checks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12064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9050">
            <a:solidFill>
              <a:srgbClr val="8B451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8288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B45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(Impurity-Based)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51460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free from the fitted tree ensemble, no extra computation</a:t>
            </a:r>
            <a:endParaRPr lang="en-US" sz="140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much each feature reduced impurity across every split</a:t>
            </a:r>
            <a:endParaRPr lang="en-US" sz="140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biased toward continuous or high-cardinality features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26480" y="1554480"/>
            <a:ext cx="512064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8288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Permutation Importance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51460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 one feature's values, measure how much performance drops</a:t>
            </a:r>
            <a:endParaRPr lang="en-US" sz="140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on the held-out test set, not the training data</a:t>
            </a:r>
            <a:endParaRPr lang="en-US" sz="1400" dirty="0"/>
          </a:p>
          <a:p>
            <a:pPr marL="203200" indent="-203200">
              <a:spcAft>
                <a:spcPts val="1200"/>
              </a:spcAft>
              <a:buSzPct val="100000"/>
              <a:buChar char="●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impurity-based bias, an independent cross-check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80060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C9A17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4800600"/>
            <a:ext cx="10332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methods agree: Loan_Amount, Annual_Income, and Credit_Score dominate, in the same order, everything else contributes under 1% each. Two independent methods agreeing is real evidence this reflects the model's genuine behavior.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Explainability  |  Loan Default Case Study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45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Partial Dependence Plots (PDP)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64922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says which features matter, not how they move the prediction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 sweeps one feature across its range, holding everything else at real, observed values, and averages the model's predicted probability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the shape and direction of a feature's effect, not just its rank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680960" y="1737360"/>
            <a:ext cx="3931920" cy="1554480"/>
          </a:xfrm>
          <a:prstGeom prst="roundRect">
            <a:avLst>
              <a:gd name="adj" fmla="val 7059"/>
            </a:avLst>
          </a:prstGeom>
          <a:solidFill>
            <a:srgbClr val="8B451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80960" y="18745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54% -&gt; 15%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680960" y="27889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Credit_Score: default probability falls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score rises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680960" y="3474720"/>
            <a:ext cx="3931920" cy="1554480"/>
          </a:xfrm>
          <a:prstGeom prst="roundRect">
            <a:avLst>
              <a:gd name="adj" fmla="val 7059"/>
            </a:avLst>
          </a:prstGeom>
          <a:solidFill>
            <a:srgbClr val="1F4E7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0960" y="36118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5% -&gt; 60%+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4526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Loan_Amount: default probability rises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loan size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Explainability  |  Loan Default Case Study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45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 Conditional Expectation (ICE)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0515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PDP shows the average effect across all applicants, that can hide real differences between individuals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plots the same sweep separately for a sample of individual applicants, with the PDP average overlaid in bold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 differ in overall risk level (some curves sit higher, some lower)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4206240"/>
            <a:ext cx="10881360" cy="1463040"/>
          </a:xfrm>
          <a:prstGeom prst="roundRect">
            <a:avLst>
              <a:gd name="adj" fmla="val 7500"/>
            </a:avLst>
          </a:prstGeom>
          <a:solidFill>
            <a:srgbClr val="F2EE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434340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B4513"/>
                </a:solidFill>
              </a:rPr>
              <a:t>Finding: 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individual curves run largely parallel to the PDP average, nearly everyone's risk responds to Credit_Score in the same declining direction and at a similar rate. No hidden subgroup reacts the opposite way, the PDP average is a fair summary here, not masking conflicting behavior.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Explainability  |  Loan Default Case Study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45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Explaining One Specific Decision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explanations describe the model in general. A rejected applicant needs something more specific: why was my application flagged? Take the test applicant the model is most confident will default.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0881360" cy="1097280"/>
        </p:xfrm>
        <a:graphic>
          <a:graphicData uri="http://schemas.openxmlformats.org/drawingml/2006/table">
            <a:tbl>
              <a:tblPr/>
              <a:tblGrid>
                <a:gridCol w="1463040"/>
                <a:gridCol w="2194560"/>
                <a:gridCol w="2194560"/>
                <a:gridCol w="1828800"/>
                <a:gridCol w="1737360"/>
                <a:gridCol w="146304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45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Income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45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Requested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45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Score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45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Risk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45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Outcome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451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$14,000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$38,757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931920"/>
            <a:ext cx="10881360" cy="1463040"/>
          </a:xfrm>
          <a:prstGeom prst="roundRect">
            <a:avLst>
              <a:gd name="adj" fmla="val 7500"/>
            </a:avLst>
          </a:prstGeom>
          <a:solidFill>
            <a:srgbClr val="F2EEE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22960" y="393192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very different explanation methods, LIME and SHAP, are used next to answer the same question for this one applicant: why did the model reach that conclusion?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Explainability  |  Loan Default Case Study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45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LIME: A Simple Local Model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0515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many small perturbations around this one applicant, watches how the model's prediction changes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a simple, interpretable (linear) model to that local neighborhood only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need to understand the real model globally, just well enough right around this one point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4206240"/>
            <a:ext cx="10881360" cy="1737360"/>
          </a:xfrm>
          <a:prstGeom prst="roundRect">
            <a:avLst>
              <a:gd name="adj" fmla="val 6316"/>
            </a:avLst>
          </a:prstGeom>
          <a:solidFill>
            <a:srgbClr val="1F4E7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434340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LIME's top three drivers, all pushing toward default:
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2EEE6"/>
                </a:solidFill>
              </a:rPr>
              <a:t>Loan_Amount above $22,574   -   Annual_Income below $41,953   -   Credit_Score below 589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Explainability  |  Loan Default Case Study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45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SHAP: A Unified, Guaranteed-Consistent 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0515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each feature, for each prediction, a signed contribution: how much it pushed this prediction above or below the average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mathematical guarantee: SHAP values sum exactly to the model's actual predicted probability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contribution size across all applicants also gives a global importance ranking, one that carries direction, not just rank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4206240"/>
            <a:ext cx="10881360" cy="1737360"/>
          </a:xfrm>
          <a:prstGeom prst="roundRect">
            <a:avLst>
              <a:gd name="adj" fmla="val 6316"/>
            </a:avLst>
          </a:prstGeom>
          <a:solidFill>
            <a:srgbClr val="8B451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434340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SHAP's top three drivers are the identical three LIME found, in the identical order:
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2EEE6"/>
                </a:solidFill>
              </a:rPr>
              <a:t>Loan_Amount   -   Annual_Income   -   Credit_Score, all pushing toward default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Explainability  |  Loan Default Case Study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45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Checking Our Assumptions: PDP vs. ALE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05156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 holds other features at their real values while sweeping one, but if features are correlated, this can create combinations that never actually occur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fixes this by only averaging over realistic, local neighborhoods, immune to that blind spot</a:t>
            </a:r>
            <a:endParaRPr lang="en-US" sz="17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Loan_Amount and Annual_Income are essentially uncorrelated here, so PDP's assumption isn't violated, still worth checking directly rather than assuming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4480560"/>
            <a:ext cx="10881360" cy="1463040"/>
          </a:xfrm>
          <a:prstGeom prst="roundRect">
            <a:avLst>
              <a:gd name="adj" fmla="val 7500"/>
            </a:avLst>
          </a:prstGeom>
          <a:solidFill>
            <a:srgbClr val="F2EE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461772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B4513"/>
                </a:solidFill>
              </a:rPr>
              <a:t>Confirmed, not assumed: 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</a:rPr>
              <a:t>the ALE curve rises in the same direction and shape as the PDP curve for Loan_Amount. With uncorrelated features, PDP and ALE have no reason to disagree, and they don't.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Explainability  |  Loan Default Case Study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45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0881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three drivers are confirmed by two independent global methods, and their effects are large, smooth, and directionally exactly what a lending officer would expect. This is a model whose behavior can be defended to a regulator or auditor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rejection reasons can be generated automatically and consistently: LIME and SHAP independently agreed on the same top three reasons for the highest-risk applicant, the basis for a defensible adverse-action notice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SHAP's exact-sum guarantee makes it the stronger choice for regulatory or compliance-facing explanations, where completeness matters as much as plausibility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explanation method should be trusted alone: importance vs. permutation, LIME vs. SHAP, PDP vs. ALE, every method here was cross-checked against an independent alternative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Explainability  |  Loan Default Case Study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B45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0607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ranks which features matter; PDP/ICE show how; LIME/SHAP explain one prediction; ALE checks PDP's assumption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and permutation importance agreeing is real evidence, not coincidence, two independent mechanisms, two different data splits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PDP is only as trustworthy as its independence assumption, check it with ALE, don't assume it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SHAP's exact-sum guarantee is what makes it defensible for regulatory use, not just a nice property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explanation method should stand alone, cross-check every one against an independent alternative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Explainability  |  Loan Default Case Study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A25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8B4513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3657600" cy="3657600"/>
          </a:xfrm>
          <a:prstGeom prst="ellipse">
            <a:avLst/>
          </a:prstGeom>
          <a:solidFill>
            <a:srgbClr val="C9A17A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49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2E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Explainability   -   Loan Default Case Study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2026-09-01T11:41:25Z</dcterms:created>
  <dcterms:modified xsi:type="dcterms:W3CDTF">2026-09-01T11:41:25Z</dcterms:modified>
</cp:coreProperties>
</file>